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B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00B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B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011680"/>
            <a:ext cx="12188952" cy="3200400"/>
          </a:xfrm>
          <a:prstGeom prst="rect">
            <a:avLst/>
          </a:prstGeom>
          <a:solidFill>
            <a:srgbClr val="00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601200" y="914400"/>
            <a:ext cx="2560320" cy="2560320"/>
          </a:xfrm>
          <a:prstGeom prst="rect">
            <a:avLst/>
          </a:prstGeom>
          <a:solidFill>
            <a:srgbClr val="006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241280" y="1371600"/>
            <a:ext cx="1645920" cy="1645920"/>
          </a:xfrm>
          <a:prstGeom prst="rect">
            <a:avLst/>
          </a:prstGeom>
          <a:solidFill>
            <a:srgbClr val="00B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92640" y="1463040"/>
            <a:ext cx="1554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</a:rPr>
              <a:t>KIRO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46920" y="25146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B8D4"/>
                </a:solidFill>
              </a:rPr>
              <a:t>AI-Assisted Development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9728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1">
                <a:solidFill>
                  <a:srgbClr val="00B8D4"/>
                </a:solidFill>
              </a:rPr>
              <a:t>Datathon Ericsson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103120"/>
            <a:ext cx="8686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User Profile Management System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200400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AAD4FF"/>
                </a:solidFill>
              </a:rPr>
              <a:t>Sviluppo Assistito da AI con Amazon Kiro CLI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02336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8AACC"/>
                </a:solidFill>
              </a:rPr>
              <a:t>Academy Generative AI · ELIS Innovation Hub · Giugno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75488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699BB"/>
                </a:solidFill>
              </a:rPr>
              <a:t>Use Case affrontati: UC-S-003 · UC-B-001 · UC-S-001 · UC-B-002 · UC-B-004 · UC-S-005 · UC-S-002 · UC-MCP-004 · UC-F-003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39496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8D4"/>
                </a:solidFill>
              </a:rPr>
              <a:t>9 Use Case completati  ·  46 test automatizzati  ·  BUILD SUCCESS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00B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64592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Indice degli Use Case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1234440"/>
            <a:ext cx="5577840" cy="868680"/>
          </a:xfrm>
          <a:prstGeom prst="rect">
            <a:avLst/>
          </a:prstGeom>
          <a:solidFill>
            <a:srgbClr val="EE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" y="1234440"/>
            <a:ext cx="64008" cy="868680"/>
          </a:xfrm>
          <a:prstGeom prst="rect">
            <a:avLst/>
          </a:prstGeom>
          <a:solidFill>
            <a:srgbClr val="006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28016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6EC7"/>
                </a:solidFill>
              </a:rPr>
              <a:t>UC-S-003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636776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2B5C"/>
                </a:solidFill>
              </a:rPr>
              <a:t>Rimozione endpoint createFirstUser</a:t>
            </a:r>
          </a:p>
        </p:txBody>
      </p:sp>
      <p:sp>
        <p:nvSpPr>
          <p:cNvPr id="9" name="Rectangle 8"/>
          <p:cNvSpPr/>
          <p:nvPr/>
        </p:nvSpPr>
        <p:spPr>
          <a:xfrm>
            <a:off x="4069080" y="1289304"/>
            <a:ext cx="1554480" cy="347472"/>
          </a:xfrm>
          <a:prstGeom prst="rect">
            <a:avLst/>
          </a:prstGeom>
          <a:solidFill>
            <a:srgbClr val="006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0" y="1325880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SECURITY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234440"/>
            <a:ext cx="5577840" cy="868680"/>
          </a:xfrm>
          <a:prstGeom prst="rect">
            <a:avLst/>
          </a:prstGeom>
          <a:solidFill>
            <a:srgbClr val="EE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234440"/>
            <a:ext cx="64008" cy="868680"/>
          </a:xfrm>
          <a:prstGeom prst="rect">
            <a:avLst/>
          </a:prstGeom>
          <a:solidFill>
            <a:srgbClr val="00A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09160" y="128016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A85A"/>
                </a:solidFill>
              </a:rPr>
              <a:t>UC-B-001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60" y="1636776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2B5C"/>
                </a:solidFill>
              </a:rPr>
              <a:t>Fix @EnableJpaAuditing mancante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12480" y="1289304"/>
            <a:ext cx="1554480" cy="347472"/>
          </a:xfrm>
          <a:prstGeom prst="rect">
            <a:avLst/>
          </a:prstGeom>
          <a:solidFill>
            <a:srgbClr val="00A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58200" y="1325880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BUGFIX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8600" y="2258568"/>
            <a:ext cx="5577840" cy="868680"/>
          </a:xfrm>
          <a:prstGeom prst="rect">
            <a:avLst/>
          </a:prstGeom>
          <a:solidFill>
            <a:srgbClr val="EE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28600" y="2258568"/>
            <a:ext cx="64008" cy="868680"/>
          </a:xfrm>
          <a:prstGeom prst="rect">
            <a:avLst/>
          </a:prstGeom>
          <a:solidFill>
            <a:srgbClr val="006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2304288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6EC7"/>
                </a:solidFill>
              </a:rPr>
              <a:t>UC-S-001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660904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2B5C"/>
                </a:solidFill>
              </a:rPr>
              <a:t>JWT Secret hardcoded → esternalizzazione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069080" y="2313432"/>
            <a:ext cx="1554480" cy="347472"/>
          </a:xfrm>
          <a:prstGeom prst="rect">
            <a:avLst/>
          </a:prstGeom>
          <a:solidFill>
            <a:srgbClr val="006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0" y="2350008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SECURITY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0" y="2258568"/>
            <a:ext cx="5577840" cy="868680"/>
          </a:xfrm>
          <a:prstGeom prst="rect">
            <a:avLst/>
          </a:prstGeom>
          <a:solidFill>
            <a:srgbClr val="EE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0" y="2258568"/>
            <a:ext cx="64008" cy="868680"/>
          </a:xfrm>
          <a:prstGeom prst="rect">
            <a:avLst/>
          </a:prstGeom>
          <a:solidFill>
            <a:srgbClr val="00A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09160" y="2304288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A85A"/>
                </a:solidFill>
              </a:rPr>
              <a:t>UC-B-002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09160" y="2660904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2B5C"/>
                </a:solidFill>
              </a:rPr>
              <a:t>Fix @EnableAutoConfiguration su Entity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412480" y="2313432"/>
            <a:ext cx="1554480" cy="347472"/>
          </a:xfrm>
          <a:prstGeom prst="rect">
            <a:avLst/>
          </a:prstGeom>
          <a:solidFill>
            <a:srgbClr val="00A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58200" y="2350008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BUGFIX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28600" y="3282696"/>
            <a:ext cx="5577840" cy="868680"/>
          </a:xfrm>
          <a:prstGeom prst="rect">
            <a:avLst/>
          </a:prstGeom>
          <a:solidFill>
            <a:srgbClr val="EE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28600" y="3282696"/>
            <a:ext cx="64008" cy="868680"/>
          </a:xfrm>
          <a:prstGeom prst="rect">
            <a:avLst/>
          </a:prstGeom>
          <a:solidFill>
            <a:srgbClr val="00A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60" y="3328416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A85A"/>
                </a:solidFill>
              </a:rPr>
              <a:t>UC-B-004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3685032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2B5C"/>
                </a:solidFill>
              </a:rPr>
              <a:t>Fix BCryptPasswordEncoder duplicati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069080" y="3337560"/>
            <a:ext cx="1554480" cy="347472"/>
          </a:xfrm>
          <a:prstGeom prst="rect">
            <a:avLst/>
          </a:prstGeom>
          <a:solidFill>
            <a:srgbClr val="00A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14800" y="3374136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BUGFIX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0" y="3282696"/>
            <a:ext cx="5577840" cy="868680"/>
          </a:xfrm>
          <a:prstGeom prst="rect">
            <a:avLst/>
          </a:prstGeom>
          <a:solidFill>
            <a:srgbClr val="EE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572000" y="3282696"/>
            <a:ext cx="64008" cy="868680"/>
          </a:xfrm>
          <a:prstGeom prst="rect">
            <a:avLst/>
          </a:prstGeom>
          <a:solidFill>
            <a:srgbClr val="006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09160" y="3328416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6EC7"/>
                </a:solidFill>
              </a:rPr>
              <a:t>UC-S-005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09160" y="3685032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2B5C"/>
                </a:solidFill>
              </a:rPr>
              <a:t>XSS Stored in profiles.html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412480" y="3337560"/>
            <a:ext cx="1554480" cy="347472"/>
          </a:xfrm>
          <a:prstGeom prst="rect">
            <a:avLst/>
          </a:prstGeom>
          <a:solidFill>
            <a:srgbClr val="006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458200" y="3374136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SECURITY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28600" y="4306824"/>
            <a:ext cx="5577840" cy="868680"/>
          </a:xfrm>
          <a:prstGeom prst="rect">
            <a:avLst/>
          </a:prstGeom>
          <a:solidFill>
            <a:srgbClr val="EE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228600" y="4306824"/>
            <a:ext cx="64008" cy="868680"/>
          </a:xfrm>
          <a:prstGeom prst="rect">
            <a:avLst/>
          </a:prstGeom>
          <a:solidFill>
            <a:srgbClr val="006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65760" y="4352544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6EC7"/>
                </a:solidFill>
              </a:rPr>
              <a:t>UC-S-002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65760" y="470916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2B5C"/>
                </a:solidFill>
              </a:rPr>
              <a:t>Password esposta in log/API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069080" y="4361688"/>
            <a:ext cx="1554480" cy="347472"/>
          </a:xfrm>
          <a:prstGeom prst="rect">
            <a:avLst/>
          </a:prstGeom>
          <a:solidFill>
            <a:srgbClr val="006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114800" y="4398264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SECURITY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572000" y="4306824"/>
            <a:ext cx="5577840" cy="868680"/>
          </a:xfrm>
          <a:prstGeom prst="rect">
            <a:avLst/>
          </a:prstGeom>
          <a:solidFill>
            <a:srgbClr val="EE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572000" y="4306824"/>
            <a:ext cx="64008" cy="86868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709160" y="4352544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6B00"/>
                </a:solidFill>
              </a:rPr>
              <a:t>UC-MCP-004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709160" y="470916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2B5C"/>
                </a:solidFill>
              </a:rPr>
              <a:t>MCP Server database H2/PostgreSQL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412480" y="4361688"/>
            <a:ext cx="1554480" cy="347472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458200" y="4398264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MCP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28600" y="5330952"/>
            <a:ext cx="5577840" cy="868680"/>
          </a:xfrm>
          <a:prstGeom prst="rect">
            <a:avLst/>
          </a:prstGeom>
          <a:solidFill>
            <a:srgbClr val="EE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228600" y="5330952"/>
            <a:ext cx="64008" cy="868680"/>
          </a:xfrm>
          <a:prstGeom prst="rect">
            <a:avLst/>
          </a:prstGeom>
          <a:solidFill>
            <a:srgbClr val="00B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5376672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8D4"/>
                </a:solidFill>
              </a:rPr>
              <a:t>UC-F-003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65760" y="5733288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2B5C"/>
                </a:solidFill>
              </a:rPr>
              <a:t>Audit Log Service completo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069080" y="5385816"/>
            <a:ext cx="1554480" cy="347472"/>
          </a:xfrm>
          <a:prstGeom prst="rect">
            <a:avLst/>
          </a:prstGeom>
          <a:solidFill>
            <a:srgbClr val="00B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114800" y="5422392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FEATURE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73152" cy="5806440"/>
          </a:xfrm>
          <a:prstGeom prst="rect">
            <a:avLst/>
          </a:prstGeom>
          <a:solidFill>
            <a:srgbClr val="00B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1828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Il Progetto</a:t>
            </a:r>
          </a:p>
        </p:txBody>
      </p:sp>
      <p:sp>
        <p:nvSpPr>
          <p:cNvPr id="5" name="Rectangle 4"/>
          <p:cNvSpPr/>
          <p:nvPr/>
        </p:nvSpPr>
        <p:spPr>
          <a:xfrm>
            <a:off x="10515600" y="320040"/>
            <a:ext cx="1554480" cy="347472"/>
          </a:xfrm>
          <a:prstGeom prst="rect">
            <a:avLst/>
          </a:prstGeom>
          <a:solidFill>
            <a:srgbClr val="006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61320" y="356615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INTRO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280160"/>
            <a:ext cx="1161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22244"/>
                </a:solidFill>
              </a:rPr>
              <a:t>Il Datathon Ericsson 2026 è una sfida pratica in cui team misti affrontano una codebase Spring Boot reale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645919"/>
            <a:ext cx="1161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22244"/>
                </a:solidFill>
              </a:rPr>
              <a:t>con il supporto di strumenti di AI generativa — in questo caso Amazon Kiro CLI.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176272"/>
            <a:ext cx="1161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22244"/>
                </a:solidFill>
              </a:rPr>
              <a:t>Il sistema di partenza è uno User Profile Management System con autenticazione JWT,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542032"/>
            <a:ext cx="1161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22244"/>
                </a:solidFill>
              </a:rPr>
              <a:t>gestione ruoli ADMIN/USER e interfaccia Thymeleaf/Bootstrap.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072384"/>
            <a:ext cx="1161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22244"/>
                </a:solidFill>
              </a:rPr>
              <a:t>L'obiettivo: correggere bug, chiudere vulnerabilità di sicurezza, aggiungere funzionalità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438144"/>
            <a:ext cx="1161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22244"/>
                </a:solidFill>
              </a:rPr>
              <a:t>e introdurre testing e DevOps — il tutto guidato dall'AI, con metodologia spec-driven.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73152" cy="5806440"/>
          </a:xfrm>
          <a:prstGeom prst="rect">
            <a:avLst/>
          </a:prstGeom>
          <a:solidFill>
            <a:srgbClr val="00B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18288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Approccio con Kiro CLI</a:t>
            </a:r>
          </a:p>
        </p:txBody>
      </p:sp>
      <p:sp>
        <p:nvSpPr>
          <p:cNvPr id="5" name="Rectangle 4"/>
          <p:cNvSpPr/>
          <p:nvPr/>
        </p:nvSpPr>
        <p:spPr>
          <a:xfrm>
            <a:off x="10424160" y="320040"/>
            <a:ext cx="1554480" cy="347472"/>
          </a:xfrm>
          <a:prstGeom prst="rect">
            <a:avLst/>
          </a:prstGeom>
          <a:solidFill>
            <a:srgbClr val="006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469880" y="356615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METODOLOGIA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280160"/>
            <a:ext cx="11612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2B5C"/>
                </a:solidFill>
              </a:rPr>
              <a:t>Metodologia Spec-Driven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19072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22244"/>
                </a:solidFill>
              </a:rPr>
              <a:t>▸  Per ogni UC: analysis.md → requirements.md → design.md → tasks.md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57400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22244"/>
                </a:solidFill>
              </a:rPr>
              <a:t>▸  Criteri di accettazione Given/When/Then, scenari di rischio, check di sicurezza espliciti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95728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22244"/>
                </a:solidFill>
              </a:rPr>
              <a:t>▸  Casi di test concreti nei tasks, implementati come JUnit con Javadoc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734056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22244"/>
                </a:solidFill>
              </a:rPr>
              <a:t>▸ 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3072384"/>
            <a:ext cx="11612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2B5C"/>
                </a:solidFill>
              </a:rPr>
              <a:t>Steering &amp; Guardrails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511296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22244"/>
                </a:solidFill>
              </a:rPr>
              <a:t>▸  project.md: contesto completo del progetto, tech stack, convenzioni, endpoints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849624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22244"/>
                </a:solidFill>
              </a:rPr>
              <a:t>▸  guardrails.md: regole operative, backward compatibility, operazioni che richiedono conferma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187952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22244"/>
                </a:solidFill>
              </a:rPr>
              <a:t>▸  Giornale di Bordo: registro progressi, decisioni e appunti per ogni UC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526280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22244"/>
                </a:solidFill>
              </a:rPr>
              <a:t>▸ 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4864608"/>
            <a:ext cx="11612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2B5C"/>
                </a:solidFill>
              </a:rPr>
              <a:t>Stack Tecnologico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303520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22244"/>
                </a:solidFill>
              </a:rPr>
              <a:t>▸  Java 17 · Spring Boot 3.3.5 · Spring Security 6 + JWT · H2/PostgreSQL · Thymeleaf · Docker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99AA"/>
                </a:solidFill>
              </a:rPr>
              <a:t>Datathon Ericsson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B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In Numeri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280160"/>
            <a:ext cx="2651760" cy="219456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280160"/>
            <a:ext cx="2651760" cy="73152"/>
          </a:xfrm>
          <a:prstGeom prst="rect">
            <a:avLst/>
          </a:prstGeom>
          <a:solidFill>
            <a:srgbClr val="00B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554480"/>
            <a:ext cx="2651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1" i="0">
                <a:solidFill>
                  <a:srgbClr val="00B8D4"/>
                </a:solidFill>
              </a:rP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51460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Use Case
completati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1280160"/>
            <a:ext cx="2651760" cy="219456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91840" y="1280160"/>
            <a:ext cx="2651760" cy="73152"/>
          </a:xfrm>
          <a:prstGeom prst="rect">
            <a:avLst/>
          </a:prstGeom>
          <a:solidFill>
            <a:srgbClr val="00A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91840" y="1554480"/>
            <a:ext cx="2651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1" i="0">
                <a:solidFill>
                  <a:srgbClr val="00A85A"/>
                </a:solidFill>
              </a:rPr>
              <a:t>46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251460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Test
automatizzati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280160"/>
            <a:ext cx="2651760" cy="219456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280160"/>
            <a:ext cx="2651760" cy="73152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1554480"/>
            <a:ext cx="2651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1" i="0">
                <a:solidFill>
                  <a:srgbClr val="FF6B00"/>
                </a:solidFill>
              </a:rPr>
              <a:t>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251460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Vulnerabilità
corrette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0" y="1280160"/>
            <a:ext cx="2651760" cy="219456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144000" y="1280160"/>
            <a:ext cx="2651760" cy="73152"/>
          </a:xfrm>
          <a:prstGeom prst="rect">
            <a:avLst/>
          </a:prstGeom>
          <a:solidFill>
            <a:srgbClr val="006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0" y="1554480"/>
            <a:ext cx="2651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1" i="0">
                <a:solidFill>
                  <a:srgbClr val="006EC7"/>
                </a:solidFill>
              </a:rPr>
              <a:t>88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251460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Audit entry
registrate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" y="3840480"/>
            <a:ext cx="1161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00B8D4"/>
                </a:solidFill>
              </a:rPr>
              <a:t>BUILD SUCCESS su tutti gli UC · Verifica Docker su ogni release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B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B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00B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560320"/>
            <a:ext cx="12188952" cy="1828800"/>
          </a:xfrm>
          <a:prstGeom prst="rect">
            <a:avLst/>
          </a:prstGeom>
          <a:solidFill>
            <a:srgbClr val="006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</a:rPr>
              <a:t>SECURITY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794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00B8D4"/>
                </a:solidFill>
              </a:rPr>
              <a:t>Chiudere le vulnerabilità · 4 Use 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6400800"/>
            <a:ext cx="12188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AAC4E0"/>
                </a:solidFill>
              </a:rPr>
              <a:t>Datathon Ericsson 2026 · Academy GenAI · ELIS Innovation Hub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73152" cy="5806440"/>
          </a:xfrm>
          <a:prstGeom prst="rect">
            <a:avLst/>
          </a:prstGeom>
          <a:solidFill>
            <a:srgbClr val="00B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18288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UC-S-003 · Rimozione endpoint createFirstUser</a:t>
            </a:r>
          </a:p>
        </p:txBody>
      </p:sp>
      <p:sp>
        <p:nvSpPr>
          <p:cNvPr id="5" name="Rectangle 4"/>
          <p:cNvSpPr/>
          <p:nvPr/>
        </p:nvSpPr>
        <p:spPr>
          <a:xfrm>
            <a:off x="10424160" y="320040"/>
            <a:ext cx="1554480" cy="347472"/>
          </a:xfrm>
          <a:prstGeom prst="rect">
            <a:avLst/>
          </a:prstGeom>
          <a:solidFill>
            <a:srgbClr val="006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469880" y="356615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SECURITY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280160"/>
            <a:ext cx="11612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2B5C"/>
                </a:solidFill>
              </a:rPr>
              <a:t>Problema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19072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22244"/>
                </a:solidFill>
              </a:rPr>
              <a:t>▸  POST /api/auth/createFirstUser era pubblico (permitAll) → chiunque poteva creare l'admin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57400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22244"/>
                </a:solidFill>
              </a:rPr>
              <a:t>▸  Nessun controllo di esistenza, nessuna autenticazione richiesta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2395728"/>
            <a:ext cx="11612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2B5C"/>
                </a:solidFill>
              </a:rPr>
              <a:t>Soluzione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834640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22244"/>
                </a:solidFill>
              </a:rPr>
              <a:t>▸  Rimosso l'endpoint da controller, service e interfaccia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172968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22244"/>
                </a:solidFill>
              </a:rPr>
              <a:t>▸  Creato DataInitializer (CommandLineRunner): crea admin + ruoli solo se DB vuoto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511296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22244"/>
                </a:solidFill>
              </a:rPr>
              <a:t>▸  Gestione graceful del caso utente già presente (no crash al restart)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3849624"/>
            <a:ext cx="11612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2B5C"/>
                </a:solidFill>
              </a:rPr>
              <a:t>Test · 4 casi JUnit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288536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22244"/>
                </a:solidFill>
              </a:rPr>
              <a:t>▸  Creazione admin su DB vuoto · Skip se utente esiste · Ruoli mancanti · Eccezione senza crash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4626864"/>
            <a:ext cx="11612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2B5C"/>
                </a:solidFill>
              </a:rPr>
              <a:t>Impatto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065775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22244"/>
                </a:solidFill>
              </a:rPr>
              <a:t>▸  Eliminata superficie di attacco pubblica · Admin sempre disponibile al primo avvio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99AA"/>
                </a:solidFill>
              </a:rPr>
              <a:t>Datathon Ericsson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73152" cy="5806440"/>
          </a:xfrm>
          <a:prstGeom prst="rect">
            <a:avLst/>
          </a:prstGeom>
          <a:solidFill>
            <a:srgbClr val="00B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18288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UC-S-001 · JWT Secret hardcoded</a:t>
            </a:r>
          </a:p>
        </p:txBody>
      </p:sp>
      <p:sp>
        <p:nvSpPr>
          <p:cNvPr id="5" name="Rectangle 4"/>
          <p:cNvSpPr/>
          <p:nvPr/>
        </p:nvSpPr>
        <p:spPr>
          <a:xfrm>
            <a:off x="10424160" y="320040"/>
            <a:ext cx="1554480" cy="347472"/>
          </a:xfrm>
          <a:prstGeom prst="rect">
            <a:avLst/>
          </a:prstGeom>
          <a:solidFill>
            <a:srgbClr val="006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469880" y="356615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SECURITY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280160"/>
            <a:ext cx="11612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2B5C"/>
                </a:solidFill>
              </a:rPr>
              <a:t>Vulnerabilità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19072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22244"/>
                </a:solidFill>
              </a:rPr>
              <a:t>▸  JWT_SECRET hardcoded in SecurityConstants.java come public static final String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57400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22244"/>
                </a:solidFill>
              </a:rPr>
              <a:t>▸  Chiunque accedesse al codice sorgente poteva forgiare token ADMIN validi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2395728"/>
            <a:ext cx="11612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2B5C"/>
                </a:solidFill>
              </a:rPr>
              <a:t>Exploit Demo creata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834640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22244"/>
                </a:solidFill>
              </a:rPr>
              <a:t>▸  forge_token.py: genera token ADMIN con il vecchio secret · test_exploit.sh: verifica (200=vuln, 401=protetto)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3172968"/>
            <a:ext cx="11612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2B5C"/>
                </a:solidFill>
              </a:rPr>
              <a:t>Fix applicata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611880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22244"/>
                </a:solidFill>
              </a:rPr>
              <a:t>▸  JWT_SECRET spostato in variabile d'ambiente ${JWT_SECRET} via @Value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950208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22244"/>
                </a:solidFill>
              </a:rPr>
              <a:t>▸  JwtUtility convertita da record a class con @PostConstruct (validazione min 64 char)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288536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22244"/>
                </a:solidFill>
              </a:rPr>
              <a:t>▸  Secret aggiunto in .env · mai nel codice sorgente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4626864"/>
            <a:ext cx="11612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2B5C"/>
                </a:solidFill>
              </a:rPr>
              <a:t>Test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065776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22244"/>
                </a:solidFill>
              </a:rPr>
              <a:t>▸  JwtSecretExternalizationTest: verifica via reflection che JWT_SECRET non sia in SecurityConstants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99AA"/>
                </a:solidFill>
              </a:rPr>
              <a:t>Datathon Ericsson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73152" cy="5806440"/>
          </a:xfrm>
          <a:prstGeom prst="rect">
            <a:avLst/>
          </a:prstGeom>
          <a:solidFill>
            <a:srgbClr val="00B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18288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UC-S-005 · Stored XSS in profiles.html</a:t>
            </a:r>
          </a:p>
        </p:txBody>
      </p:sp>
      <p:sp>
        <p:nvSpPr>
          <p:cNvPr id="5" name="Rectangle 4"/>
          <p:cNvSpPr/>
          <p:nvPr/>
        </p:nvSpPr>
        <p:spPr>
          <a:xfrm>
            <a:off x="10424160" y="320040"/>
            <a:ext cx="1554480" cy="347472"/>
          </a:xfrm>
          <a:prstGeom prst="rect">
            <a:avLst/>
          </a:prstGeom>
          <a:solidFill>
            <a:srgbClr val="006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469880" y="356615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SECURITY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280160"/>
            <a:ext cx="11612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2B5C"/>
                </a:solidFill>
              </a:rPr>
              <a:t>Vulnerabilità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19072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22244"/>
                </a:solidFill>
              </a:rPr>
              <a:t>▸  profiles.html usava innerHTML con template literals non sanitizzati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57400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22244"/>
                </a:solidFill>
              </a:rPr>
              <a:t>▸  Un attaccante si registrava con payload XSS nel nome → eseguito per tutti i visitatori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2395728"/>
            <a:ext cx="11612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2B5C"/>
                </a:solidFill>
              </a:rPr>
              <a:t>Fix defense-in-depth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834640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22244"/>
                </a:solidFill>
              </a:rPr>
              <a:t>▸  Server-side: annotazione custom @NoXss + NoXssValidator con regex per tag HTML, entità, attributi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172968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22244"/>
                </a:solidFill>
              </a:rPr>
              <a:t>▸  Applicata su: username, firstName, lastName, email, phoneNumber (@Valid su signup/edit/add)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511296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22244"/>
                </a:solidFill>
              </a:rPr>
              <a:t>▸  Client-side: funzione escapeHtml() in profiles.html come safety net aggiuntivo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3849624"/>
            <a:ext cx="11612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2B5C"/>
                </a:solidFill>
              </a:rPr>
              <a:t>Internazionalizzazione preservata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288536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22244"/>
                </a:solidFill>
              </a:rPr>
              <a:t>▸  O'Brien · Jean-Pierre · François · Дмитрий · 田中 · عمر → tutti accettati (20 test parametrizzati)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4626864"/>
            <a:ext cx="11612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2B5C"/>
                </a:solidFill>
              </a:rPr>
              <a:t>Test · 20 casi JUnit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065775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22244"/>
                </a:solidFill>
              </a:rPr>
              <a:t>▸  7 payload XSS rifiutati · 12 nomi internazionali accettati · 1 caso null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99AA"/>
                </a:solidFill>
              </a:rPr>
              <a:t>Datathon Ericsson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73152" cy="5806440"/>
          </a:xfrm>
          <a:prstGeom prst="rect">
            <a:avLst/>
          </a:prstGeom>
          <a:solidFill>
            <a:srgbClr val="00B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18288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UC-S-002 · Password esposta in log/API</a:t>
            </a:r>
          </a:p>
        </p:txBody>
      </p:sp>
      <p:sp>
        <p:nvSpPr>
          <p:cNvPr id="5" name="Rectangle 4"/>
          <p:cNvSpPr/>
          <p:nvPr/>
        </p:nvSpPr>
        <p:spPr>
          <a:xfrm>
            <a:off x="10424160" y="320040"/>
            <a:ext cx="1554480" cy="347472"/>
          </a:xfrm>
          <a:prstGeom prst="rect">
            <a:avLst/>
          </a:prstGeom>
          <a:solidFill>
            <a:srgbClr val="006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469880" y="356615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SECURITY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280160"/>
            <a:ext cx="11612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2B5C"/>
                </a:solidFill>
              </a:rPr>
              <a:t>6 vettori identificati con analisi statica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19072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22244"/>
                </a:solidFill>
              </a:rPr>
              <a:t>▸  V1/V2: LoginDto e SignUpRequestDto.toString() includevano la password in chiaro nei log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57400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22244"/>
                </a:solidFill>
              </a:rPr>
              <a:t>▸  V3: AuthServiceImpl loggava i DTO via SLF4J {}  → password nei log applicativi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95728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22244"/>
                </a:solidFill>
              </a:rPr>
              <a:t>▸  V4: UserProfile.password serializzata in JSON senza restrizioni → esposta in GET /api/profiles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734056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22244"/>
                </a:solidFill>
              </a:rPr>
              <a:t>▸  V5: EggUpInfo.password esposta via relazione @OneToOne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072384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22244"/>
                </a:solidFill>
              </a:rPr>
              <a:t>▸  V6: setPassword(null) come mitigazione fragile (Hibernate può flushare il null)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3410712"/>
            <a:ext cx="11612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2B5C"/>
                </a:solidFill>
              </a:rPr>
              <a:t>Fix applicati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849624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22244"/>
                </a:solidFill>
              </a:rPr>
              <a:t>▸  toString() → password sostituita con [PROTECTED]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187952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22244"/>
                </a:solidFill>
              </a:rPr>
              <a:t>▸  @JsonProperty(access = WRITE_ONLY) su UserProfile.password e EggUpInfo.password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4526280"/>
            <a:ext cx="11612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2B5C"/>
                </a:solidFill>
              </a:rPr>
              <a:t>Verifica Docker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965192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22244"/>
                </a:solidFill>
              </a:rPr>
              <a:t>▸  GET /api/profiles → campo password assente dalla response JSON 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99AA"/>
                </a:solidFill>
              </a:rPr>
              <a:t>Datathon Ericsson 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B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B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00B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560320"/>
            <a:ext cx="12188952" cy="1828800"/>
          </a:xfrm>
          <a:prstGeom prst="rect">
            <a:avLst/>
          </a:prstGeom>
          <a:solidFill>
            <a:srgbClr val="006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</a:rPr>
              <a:t>BUGFIX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794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00B8D4"/>
                </a:solidFill>
              </a:rPr>
              <a:t>Stabilizzare la codebase · 3 Use 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6400800"/>
            <a:ext cx="12188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AAC4E0"/>
                </a:solidFill>
              </a:rPr>
              <a:t>Datathon Ericsson 2026 · Academy GenAI · ELIS Innovation Hub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73152" cy="5806440"/>
          </a:xfrm>
          <a:prstGeom prst="rect">
            <a:avLst/>
          </a:prstGeom>
          <a:solidFill>
            <a:srgbClr val="00B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18288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UC-B-001 · Fix @EnableJpaAuditing mancante</a:t>
            </a:r>
          </a:p>
        </p:txBody>
      </p:sp>
      <p:sp>
        <p:nvSpPr>
          <p:cNvPr id="5" name="Rectangle 4"/>
          <p:cNvSpPr/>
          <p:nvPr/>
        </p:nvSpPr>
        <p:spPr>
          <a:xfrm>
            <a:off x="10424160" y="320040"/>
            <a:ext cx="1554480" cy="347472"/>
          </a:xfrm>
          <a:prstGeom prst="rect">
            <a:avLst/>
          </a:prstGeom>
          <a:solidFill>
            <a:srgbClr val="00A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469880" y="356615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BUGFIX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280160"/>
            <a:ext cx="11612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2B5C"/>
                </a:solidFill>
              </a:rPr>
              <a:t>Bug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19072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22244"/>
                </a:solidFill>
              </a:rPr>
              <a:t>▸  DateAudit.java dichiarava @EntityListeners(AuditingEntityListener.class) + @CreatedDate/@LastModifiedDate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57400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22244"/>
                </a:solidFill>
              </a:rPr>
              <a:t>▸  7 entità estendevano DateAudit — ma nessuna @Configuration dichiarava @EnableJpaAuditing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95728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22244"/>
                </a:solidFill>
              </a:rPr>
              <a:t>▸  Risultato: campi created_at e updated_at sempre NULL nel database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2734056"/>
            <a:ext cx="11612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2B5C"/>
                </a:solidFill>
              </a:rPr>
              <a:t>Fix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172968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22244"/>
                </a:solidFill>
              </a:rPr>
              <a:t>▸  Creato JpaAuditingConfig.java: @Configuration + @EnableJpaAuditing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3511296"/>
            <a:ext cx="11612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2B5C"/>
                </a:solidFill>
              </a:rPr>
              <a:t>Test · 2 casi @DataJpaTest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950208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22244"/>
                </a:solidFill>
              </a:rPr>
              <a:t>▸  Persist di un Role → createdAt != null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288536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22244"/>
                </a:solidFill>
              </a:rPr>
              <a:t>▸  Update di un Role → updatedAt != null e &gt;= createdAt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99AA"/>
                </a:solidFill>
              </a:rPr>
              <a:t>Datathon Ericsson 2026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73152" cy="5806440"/>
          </a:xfrm>
          <a:prstGeom prst="rect">
            <a:avLst/>
          </a:prstGeom>
          <a:solidFill>
            <a:srgbClr val="00B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18288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UC-B-002 &amp; UC-B-004 · Bug Annotazioni e PasswordEncoder</a:t>
            </a:r>
          </a:p>
        </p:txBody>
      </p:sp>
      <p:sp>
        <p:nvSpPr>
          <p:cNvPr id="5" name="Rectangle 4"/>
          <p:cNvSpPr/>
          <p:nvPr/>
        </p:nvSpPr>
        <p:spPr>
          <a:xfrm>
            <a:off x="10424160" y="320040"/>
            <a:ext cx="1554480" cy="347472"/>
          </a:xfrm>
          <a:prstGeom prst="rect">
            <a:avLst/>
          </a:prstGeom>
          <a:solidFill>
            <a:srgbClr val="00A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469880" y="356615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BUGFIX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280160"/>
            <a:ext cx="11612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2B5C"/>
                </a:solidFill>
              </a:rPr>
              <a:t>UC-B-002: @EnableAutoConfiguration su Entity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19072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22244"/>
                </a:solidFill>
              </a:rPr>
              <a:t>▸  @EnableAutoConfiguration presente su RefreshToken.java e Role.java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57400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22244"/>
                </a:solidFill>
              </a:rPr>
              <a:t>▸  Annotazione di bootstrap Spring Boot impropriamente usata su entity JPA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95728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22244"/>
                </a:solidFill>
              </a:rPr>
              <a:t>▸  Fix: rimossa annotazione e import da entrambe le entity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734056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22244"/>
                </a:solidFill>
              </a:rPr>
              <a:t>▸  Test: NoEnableAutoConfigOnEntityTest — scansione via reflection su package model.entity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072384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22244"/>
                </a:solidFill>
              </a:rPr>
              <a:t>▸ 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3410712"/>
            <a:ext cx="11612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2B5C"/>
                </a:solidFill>
              </a:rPr>
              <a:t>UC-B-004: BCryptPasswordEncoder duplicati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849624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22244"/>
                </a:solidFill>
              </a:rPr>
              <a:t>▸  AuthServiceImpl e CustomAuthenticationManager istanziavano new BCryptPasswordEncoder()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187952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22244"/>
                </a:solidFill>
              </a:rPr>
              <a:t>▸  invece di iniettare il bean definito in SecurityConfig → inconsistenza di configurazione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526280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22244"/>
                </a:solidFill>
              </a:rPr>
              <a:t>▸  Fix: injection via costruttore in entrambe le classi · rimosso import BCryptPasswordEncoder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864608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22244"/>
                </a:solidFill>
              </a:rPr>
              <a:t>▸  Test: NoDuplicatePasswordEncoderTest — scansione sorgenti, verifica assenza new BCryptPasswordEncoder()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202936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22244"/>
                </a:solidFill>
              </a:rPr>
              <a:t>▸  Dopo fix: BUILD SUCCESS 14/14 test 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99AA"/>
                </a:solidFill>
              </a:rPr>
              <a:t>Datathon Ericsson 2026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B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B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00B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560320"/>
            <a:ext cx="12188952" cy="1828800"/>
          </a:xfrm>
          <a:prstGeom prst="rect">
            <a:avLst/>
          </a:prstGeom>
          <a:solidFill>
            <a:srgbClr val="006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</a:rPr>
              <a:t>MCP TOOL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794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00B8D4"/>
                </a:solidFill>
              </a:rPr>
              <a:t>Model Context Protocol · UC-MCP-004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6400800"/>
            <a:ext cx="12188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AAC4E0"/>
                </a:solidFill>
              </a:rPr>
              <a:t>Datathon Ericsson 2026 · Academy GenAI · ELIS Innovation Hub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73152" cy="5806440"/>
          </a:xfrm>
          <a:prstGeom prst="rect">
            <a:avLst/>
          </a:prstGeom>
          <a:solidFill>
            <a:srgbClr val="00B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18288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UC-MCP-004 · MCP Server per database</a:t>
            </a:r>
          </a:p>
        </p:txBody>
      </p:sp>
      <p:sp>
        <p:nvSpPr>
          <p:cNvPr id="5" name="Rectangle 4"/>
          <p:cNvSpPr/>
          <p:nvPr/>
        </p:nvSpPr>
        <p:spPr>
          <a:xfrm>
            <a:off x="10424160" y="320040"/>
            <a:ext cx="1554480" cy="347472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469880" y="356615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MCP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280160"/>
            <a:ext cx="11612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2B5C"/>
                </a:solidFill>
              </a:rPr>
              <a:t>Architettura (Python · FastMCP · stdio)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19072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22244"/>
                </a:solidFill>
              </a:rPr>
              <a:t>▸  db/connection.py: factory H2 (jaydebeapi) / PostgreSQL (psycopg2) da variabili d'ambiente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57400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22244"/>
                </a:solidFill>
              </a:rPr>
              <a:t>▸  db/sanitizer.py: READ-ONLY enforcement (solo SELECT) + field masking [REDACTED]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95728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22244"/>
                </a:solidFill>
              </a:rPr>
              <a:t>▸  tools/list_tables.py: elenca tabelle con schema · tools/query_database.py: esegue SELECT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734056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22244"/>
                </a:solidFill>
              </a:rPr>
              <a:t>▸  index.py: entry point FastMCP stdio, registrato in .kiro/mcp.json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3072384"/>
            <a:ext cx="11612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2B5C"/>
                </a:solidFill>
              </a:rPr>
              <a:t>Governance &amp; Sicurezza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511296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22244"/>
                </a:solidFill>
              </a:rPr>
              <a:t>▸  DDL/DML bloccati lato server · Credenziali solo da env vars · Audit log su audit.log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3849624"/>
            <a:ext cx="11612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2B5C"/>
                </a:solidFill>
              </a:rPr>
              <a:t>Limitazione riscontrata: profilo MCPUserOn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288536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22244"/>
                </a:solidFill>
              </a:rPr>
              <a:t>▸  Il profilo aziendale MCPUserOn impedisce MCP server custom → server configurato ma non caricabile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626864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22244"/>
                </a:solidFill>
              </a:rPr>
              <a:t>▸  Workaround: invocazione diretta del modulo Python via shell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4965192"/>
            <a:ext cx="11612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2B5C"/>
                </a:solidFill>
              </a:rPr>
              <a:t>Test · 21 casi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404104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22244"/>
                </a:solidFill>
              </a:rPr>
              <a:t>▸  14 unit test (zero dipendenze DB) · 7 test integrazione su PostgreSQL Docker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99AA"/>
                </a:solidFill>
              </a:rPr>
              <a:t>Datathon Ericsson 2026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B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B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00B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560320"/>
            <a:ext cx="12188952" cy="1828800"/>
          </a:xfrm>
          <a:prstGeom prst="rect">
            <a:avLst/>
          </a:prstGeom>
          <a:solidFill>
            <a:srgbClr val="006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</a:rPr>
              <a:t>FEATURE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794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00B8D4"/>
                </a:solidFill>
              </a:rPr>
              <a:t>Nuove funzionalità · UC-F-003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6400800"/>
            <a:ext cx="12188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AAC4E0"/>
                </a:solidFill>
              </a:rPr>
              <a:t>Datathon Ericsson 2026 · Academy GenAI · ELIS Innovation Hub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73152" cy="5806440"/>
          </a:xfrm>
          <a:prstGeom prst="rect">
            <a:avLst/>
          </a:prstGeom>
          <a:solidFill>
            <a:srgbClr val="00B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18288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UC-F-003 · Audit Log Service — Architettura</a:t>
            </a:r>
          </a:p>
        </p:txBody>
      </p:sp>
      <p:sp>
        <p:nvSpPr>
          <p:cNvPr id="5" name="Rectangle 4"/>
          <p:cNvSpPr/>
          <p:nvPr/>
        </p:nvSpPr>
        <p:spPr>
          <a:xfrm>
            <a:off x="10424160" y="320040"/>
            <a:ext cx="1554480" cy="347472"/>
          </a:xfrm>
          <a:prstGeom prst="rect">
            <a:avLst/>
          </a:prstGeom>
          <a:solidFill>
            <a:srgbClr val="00B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469880" y="356615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FEATURE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280160"/>
            <a:ext cx="11612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2B5C"/>
                </a:solidFill>
              </a:rPr>
              <a:t>Pattern AOP — trasparente rispetto alla logica di business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19072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22244"/>
                </a:solidFill>
              </a:rPr>
              <a:t>▸  @AuditAction(action='USER_LOGIN')  ←  annotazione custom sui metodi service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57400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22244"/>
                </a:solidFill>
              </a:rPr>
              <a:t>▸  AuditAspect (@Aspect / @Around)  →  intercetta, legge SecurityContext + HttpServletRequest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95728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22244"/>
                </a:solidFill>
              </a:rPr>
              <a:t>▸  AuditLogService.save()  →  persiste AuditLog su tabella audit_log (PostgreSQL)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734056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22244"/>
                </a:solidFill>
              </a:rPr>
              <a:t>▸  GET /api/audit  (solo ADMIN)  →  log paginati con filtri per email/action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3072384"/>
            <a:ext cx="11612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2B5C"/>
                </a:solidFill>
              </a:rPr>
              <a:t>Componenti creati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511296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22244"/>
                </a:solidFill>
              </a:rPr>
              <a:t>▸  @AuditAction · AuditLog entity · AuditLogRepository · AuditLogService/Impl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849624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22244"/>
                </a:solidFill>
              </a:rPr>
              <a:t>▸  AuditAspect · AuditLogDto · AuditLogController/Impl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4187952"/>
            <a:ext cx="11612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2B5C"/>
                </a:solidFill>
              </a:rPr>
              <a:t>Azioni tracciate automaticamente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626864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22244"/>
                </a:solidFill>
              </a:rPr>
              <a:t>▸  USER_LOGIN · USER_SIGNUP · USER_LOGOUT · PROFILE_UPDATE · PROFILE_DELETE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99AA"/>
                </a:solidFill>
              </a:rPr>
              <a:t>Datathon Ericsson 2026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73152" cy="5806440"/>
          </a:xfrm>
          <a:prstGeom prst="rect">
            <a:avLst/>
          </a:prstGeom>
          <a:solidFill>
            <a:srgbClr val="00B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18288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UC-F-003 · Audit Log Service — Dettagli tecnici</a:t>
            </a:r>
          </a:p>
        </p:txBody>
      </p:sp>
      <p:sp>
        <p:nvSpPr>
          <p:cNvPr id="5" name="Rectangle 4"/>
          <p:cNvSpPr/>
          <p:nvPr/>
        </p:nvSpPr>
        <p:spPr>
          <a:xfrm>
            <a:off x="10424160" y="320040"/>
            <a:ext cx="1554480" cy="347472"/>
          </a:xfrm>
          <a:prstGeom prst="rect">
            <a:avLst/>
          </a:prstGeom>
          <a:solidFill>
            <a:srgbClr val="00B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469880" y="356615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FEATURE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280160"/>
            <a:ext cx="11612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2B5C"/>
                </a:solidFill>
              </a:rPr>
              <a:t>AuditAspect — gestione robusta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19072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22244"/>
                </a:solidFill>
              </a:rPr>
              <a:t>▸  Eccezioni nel save: fire-and-forget (log NON blocca mai il flusso principale)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57400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22244"/>
                </a:solidFill>
              </a:rPr>
              <a:t>▸  IP address: X-Forwarded-For con fallback a RemoteAddr (supporto proxy/Docker)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95728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22244"/>
                </a:solidFill>
              </a:rPr>
              <a:t>▸  Email: SecurityContext → fallback via reflection su getEmail() dell'argomento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734056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22244"/>
                </a:solidFill>
              </a:rPr>
              <a:t>▸  (fix necessario: per USER_LOGIN il SecurityContext non è ancora popolato)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3072384"/>
            <a:ext cx="11612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2B5C"/>
                </a:solidFill>
              </a:rPr>
              <a:t>Sicurezza API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511296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22244"/>
                </a:solidFill>
              </a:rPr>
              <a:t>▸  GET /api/audit protetto da SecurityConfig (.hasRole('ADMIN')) + @PreAuthorize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849624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22244"/>
                </a:solidFill>
              </a:rPr>
              <a:t>▸  errorMessage escluso dal DTO (potrebbe contenere dettagli interni)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187952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22244"/>
                </a:solidFill>
              </a:rPr>
              <a:t>▸  Endpoint read-only: nessun POST/PUT/DELETE esposto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4526280"/>
            <a:ext cx="11612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2B5C"/>
                </a:solidFill>
              </a:rPr>
              <a:t>Test · 10 casi JUnit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965192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22244"/>
                </a:solidFill>
              </a:rPr>
              <a:t>▸  AuditAspectTest (4): success, failure, anonymous, save-fail non blocca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303520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22244"/>
                </a:solidFill>
              </a:rPr>
              <a:t>▸  AuditLogServiceTest (3): save, paginazione, filtro email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641848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22244"/>
                </a:solidFill>
              </a:rPr>
              <a:t>▸  AuditLogControllerTest (3): ADMIN 200, anonimo 401, USER verificato a runtime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99AA"/>
                </a:solidFill>
              </a:rPr>
              <a:t>Datathon Ericsson 2026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73152" cy="5806440"/>
          </a:xfrm>
          <a:prstGeom prst="rect">
            <a:avLst/>
          </a:prstGeom>
          <a:solidFill>
            <a:srgbClr val="00B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18288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UC-F-003 · Audit Log — Risultati in produzione</a:t>
            </a:r>
          </a:p>
        </p:txBody>
      </p:sp>
      <p:sp>
        <p:nvSpPr>
          <p:cNvPr id="5" name="Rectangle 4"/>
          <p:cNvSpPr/>
          <p:nvPr/>
        </p:nvSpPr>
        <p:spPr>
          <a:xfrm>
            <a:off x="10424160" y="320040"/>
            <a:ext cx="1554480" cy="347472"/>
          </a:xfrm>
          <a:prstGeom prst="rect">
            <a:avLst/>
          </a:prstGeom>
          <a:solidFill>
            <a:srgbClr val="00B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469880" y="356615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FEATURE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280160"/>
            <a:ext cx="11612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2B5C"/>
                </a:solidFill>
              </a:rPr>
              <a:t>Dati reali al termine della sessione di testing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19072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22244"/>
                </a:solidFill>
              </a:rPr>
              <a:t>▸  88 entry totali registrate nel database PostgreSQL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57400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22244"/>
                </a:solidFill>
              </a:rPr>
              <a:t>▸  USER_LOGIN: 22 successi · 43 fallimenti (di cui 40 da test exploit UC-S-002)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95728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22244"/>
                </a:solidFill>
              </a:rPr>
              <a:t>▸  USER_LOGOUT: 6 · USER_SIGNUP: 7 · PROFILE_UPDATE: 1 · PROFILE_DELETE: 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2734056"/>
            <a:ext cx="11612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2B5C"/>
                </a:solidFill>
              </a:rPr>
              <a:t>Osservazione di sicurezza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172968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22244"/>
                </a:solidFill>
              </a:rPr>
              <a:t>▸  La raffica di 43 login falliti tra le 09:55 e le 10:00 è stata correttamente tracciata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511296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22244"/>
                </a:solidFill>
              </a:rPr>
              <a:t>▸  → il log avrebbe permesso di rilevare l'attacco brute force in tempo reale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3849624"/>
            <a:ext cx="11612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2B5C"/>
                </a:solidFill>
              </a:rPr>
              <a:t>API di consultazione verificata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288536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22244"/>
                </a:solidFill>
              </a:rPr>
              <a:t>▸  GET /api/audit?action=USER_LOGIN&amp;size=10 → lista con email reale, timestamp, IP, esito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626864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22244"/>
                </a:solidFill>
              </a:rPr>
              <a:t>▸  Filtri funzionanti: per email, per action, paginazione DESC per timestamp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4965192"/>
            <a:ext cx="11612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2B5C"/>
                </a:solidFill>
              </a:rPr>
              <a:t>Prossimo passo sbloccato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404104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22244"/>
                </a:solidFill>
              </a:rPr>
              <a:t>▸  UC-F-006 (Dashboard Analytics) dipende da questo UC → ora disponibile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99AA"/>
                </a:solidFill>
              </a:rPr>
              <a:t>Datathon Ericsson 2026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B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00B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B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286000"/>
            <a:ext cx="12188952" cy="2560320"/>
          </a:xfrm>
          <a:prstGeom prst="rect">
            <a:avLst/>
          </a:prstGeom>
          <a:solidFill>
            <a:srgbClr val="00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2468880"/>
            <a:ext cx="121889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FFFFFF"/>
                </a:solidFill>
              </a:rPr>
              <a:t>Grazie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3566160"/>
            <a:ext cx="121889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00B8D4"/>
                </a:solidFill>
              </a:rPr>
              <a:t>Domande &amp; Approfondimenti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4389120"/>
            <a:ext cx="121889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AAC4E0"/>
                </a:solidFill>
              </a:rPr>
              <a:t>Repository: github.com/MarcoIppo/datathon-ericsson-2026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6035040"/>
            <a:ext cx="12188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688AA"/>
                </a:solidFill>
              </a:rPr>
              <a:t>9 UC · 46 test · BUILD SUCCESS · Datathon Ericsson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